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0D1B2A"/>
                </a:solidFill>
                <a:latin typeface="Arial"/>
              </a:rPr>
              <a:t>Speedup por Número de Workers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14-42A8-AFE0-F708DDEFD9F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14-42A8-AFE0-F708DDEFD9F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814-42A8-AFE0-F708DDEFD9F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814-42A8-AFE0-F708DDEFD9F7}"/>
              </c:ext>
            </c:extLst>
          </c:dPt>
          <c:dPt>
            <c:idx val="4"/>
            <c:invertIfNegative val="0"/>
            <c:bubble3D val="0"/>
            <c:spPr>
              <a:solidFill>
                <a:srgbClr val="F7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14-42A8-AFE0-F708DDEFD9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Serial</c:v>
                </c:pt>
                <c:pt idx="1">
                  <c:v>2 Workers</c:v>
                </c:pt>
                <c:pt idx="2">
                  <c:v>4 Workers</c:v>
                </c:pt>
                <c:pt idx="3">
                  <c:v>8 Workers</c:v>
                </c:pt>
                <c:pt idx="4">
                  <c:v>12 Workers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1.79</c:v>
                </c:pt>
                <c:pt idx="2">
                  <c:v>3.12</c:v>
                </c:pt>
                <c:pt idx="3">
                  <c:v>4.7300000000000004</c:v>
                </c:pt>
                <c:pt idx="4">
                  <c:v>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14-42A8-AFE0-F708DDEFD9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51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384048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D1B2A"/>
                </a:solidFill>
              </a:rPr>
              <a:t>PROGRAMAÇÃO CONCORRENTE E DISTRIBUÍDA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Paralelo de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 de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Avaliações de Filmes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</a:rPr>
              <a:t>MovieLens 10.5 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DB8C5"/>
                </a:solidFill>
              </a:rPr>
              <a:t>10.5 milhões de avaliações  ·  84.661 filmes  ·  milhares de usuários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33088"/>
            <a:ext cx="822960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DB8C5"/>
                </a:solidFill>
              </a:rPr>
              <a:t>Prof. Rafael Marconi   ·   </a:t>
            </a:r>
            <a:r>
              <a:rPr lang="en-US" sz="1000" b="1" dirty="0">
                <a:solidFill>
                  <a:srgbClr val="FFFFFF"/>
                </a:solidFill>
              </a:rPr>
              <a:t>Filipe Ferreira  &amp;  Max Muller</a:t>
            </a:r>
            <a:r>
              <a:rPr lang="en-US" sz="1000" dirty="0">
                <a:solidFill>
                  <a:srgbClr val="ADB8C5"/>
                </a:solidFill>
              </a:rPr>
              <a:t>   ·   </a:t>
            </a:r>
            <a:r>
              <a:rPr lang="en-US" sz="1000" dirty="0" err="1">
                <a:solidFill>
                  <a:srgbClr val="ADB8C5"/>
                </a:solidFill>
              </a:rPr>
              <a:t>Análise</a:t>
            </a:r>
            <a:r>
              <a:rPr lang="en-US" sz="1000" dirty="0">
                <a:solidFill>
                  <a:srgbClr val="ADB8C5"/>
                </a:solidFill>
              </a:rPr>
              <a:t> e </a:t>
            </a:r>
            <a:r>
              <a:rPr lang="en-US" sz="1000" dirty="0" err="1">
                <a:solidFill>
                  <a:srgbClr val="ADB8C5"/>
                </a:solidFill>
              </a:rPr>
              <a:t>Desenvolvimento</a:t>
            </a:r>
            <a:r>
              <a:rPr lang="en-US" sz="1000" dirty="0">
                <a:solidFill>
                  <a:srgbClr val="ADB8C5"/>
                </a:solidFill>
              </a:rPr>
              <a:t> de </a:t>
            </a:r>
            <a:r>
              <a:rPr lang="en-US" sz="1000" dirty="0" err="1">
                <a:solidFill>
                  <a:srgbClr val="ADB8C5"/>
                </a:solidFill>
              </a:rPr>
              <a:t>Sistemas</a:t>
            </a:r>
            <a:r>
              <a:rPr lang="en-US" sz="1000" dirty="0">
                <a:solidFill>
                  <a:srgbClr val="ADB8C5"/>
                </a:solidFill>
              </a:rPr>
              <a:t> &amp; </a:t>
            </a:r>
            <a:r>
              <a:rPr lang="en-US" sz="1000" dirty="0" err="1">
                <a:solidFill>
                  <a:srgbClr val="ADB8C5"/>
                </a:solidFill>
              </a:rPr>
              <a:t>Sistemas</a:t>
            </a:r>
            <a:r>
              <a:rPr lang="en-US" sz="1000" dirty="0">
                <a:solidFill>
                  <a:srgbClr val="ADB8C5"/>
                </a:solidFill>
              </a:rPr>
              <a:t> de </a:t>
            </a:r>
            <a:r>
              <a:rPr lang="en-US" sz="1000" dirty="0" err="1">
                <a:solidFill>
                  <a:srgbClr val="ADB8C5"/>
                </a:solidFill>
              </a:rPr>
              <a:t>Informação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6C7"/>
                </a:solidFill>
              </a:rPr>
              <a:t>Objetivos e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Processar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10,5M+ avaliações de filmes com múltiplos workers paralelos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Rankear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Top 10 filmes por média, por popularidade e geral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Comparar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</a:rPr>
              <a:t>Execução serial vs. paralela — medir speedup e escalabilidade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1371600"/>
            <a:ext cx="3337560" cy="3429000"/>
          </a:xfrm>
          <a:prstGeom prst="roundRect">
            <a:avLst>
              <a:gd name="adj" fmla="val 32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4813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8470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MovieLens 10.5 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10,5M+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26609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Avaliações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9496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84.661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3192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Filmes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6484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28,5M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3977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Linhas carregadas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43068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23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DB8C5"/>
                </a:solidFill>
              </a:rPr>
              <a:t>Lotes de processamento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Tecnologias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Cliente /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Banco de Dados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0545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Fila de Processamento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5526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Workers (2 / 4 / 8 / 12)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85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Resultados / Rankings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</a:rPr>
              <a:t>Stack Tecnológico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44475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Python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Linguagem principal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020824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FastAPI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258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Interface REST / Cliente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633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multiprocessing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Módulo nativo de processos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3172968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9" name="Text 27"/>
          <p:cNvSpPr/>
          <p:nvPr/>
        </p:nvSpPr>
        <p:spPr>
          <a:xfrm>
            <a:off x="489204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00B4D8"/>
                </a:solidFill>
              </a:rPr>
              <a:t>mp.Pool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410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850" dirty="0">
                <a:solidFill>
                  <a:srgbClr val="ADB8C5"/>
                </a:solidFill>
              </a:rPr>
              <a:t>Pool de processos via </a:t>
            </a:r>
            <a:r>
              <a:rPr lang="pt-BR" sz="850" dirty="0" err="1">
                <a:solidFill>
                  <a:srgbClr val="ADB8C5"/>
                </a:solidFill>
              </a:rPr>
              <a:t>pool.map</a:t>
            </a:r>
            <a:r>
              <a:rPr lang="pt-BR" sz="850" dirty="0">
                <a:solidFill>
                  <a:srgbClr val="ADB8C5"/>
                </a:solidFill>
              </a:rPr>
              <a:t>() — distribui </a:t>
            </a:r>
            <a:r>
              <a:rPr lang="pt-BR" sz="850" dirty="0" err="1">
                <a:solidFill>
                  <a:srgbClr val="ADB8C5"/>
                </a:solidFill>
              </a:rPr>
              <a:t>chunks</a:t>
            </a:r>
            <a:r>
              <a:rPr lang="pt-BR" sz="850" dirty="0">
                <a:solidFill>
                  <a:srgbClr val="ADB8C5"/>
                </a:solidFill>
              </a:rPr>
              <a:t> entre </a:t>
            </a:r>
            <a:r>
              <a:rPr lang="pt-BR" sz="850" dirty="0" err="1">
                <a:solidFill>
                  <a:srgbClr val="ADB8C5"/>
                </a:solidFill>
              </a:rPr>
              <a:t>workers</a:t>
            </a:r>
            <a:endParaRPr lang="en-US" sz="850" dirty="0">
              <a:solidFill>
                <a:srgbClr val="ADB8C5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concurrent.futures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Abstração de paralelismo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432511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3616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</a:rPr>
              <a:t>Docker Compose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562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DB8C5"/>
                </a:solidFill>
              </a:rPr>
              <a:t>Orquestração de serviços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</a:rPr>
              <a:t>5.63×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Speedup Máximo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12 workers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126.6s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Tempo Serial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baseline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22.5s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Melhor Paralelo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8C5"/>
                </a:solidFill>
              </a:rPr>
              <a:t>12 workers</a:t>
            </a:r>
            <a:endParaRPr lang="en-US" sz="8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11480" y="214884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943600" y="214884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2240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📌 Observações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2633472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• Ganho de </a:t>
            </a:r>
            <a:r>
              <a:rPr lang="en-US" sz="950" b="1" dirty="0">
                <a:solidFill>
                  <a:srgbClr val="F77F00"/>
                </a:solidFill>
              </a:rPr>
              <a:t>5.63× </a:t>
            </a:r>
            <a:r>
              <a:rPr lang="en-US" sz="950" dirty="0">
                <a:solidFill>
                  <a:srgbClr val="4A5568"/>
                </a:solidFill>
              </a:rPr>
              <a:t>com 12 workers
• Eficiência paralela: </a:t>
            </a:r>
            <a:r>
              <a:rPr lang="en-US" sz="950" b="1" dirty="0">
                <a:solidFill>
                  <a:srgbClr val="D62828"/>
                </a:solidFill>
              </a:rPr>
              <a:t>cai de 90% → 47%</a:t>
            </a:r>
            <a:r>
              <a:rPr lang="en-US" sz="950" dirty="0">
                <a:solidFill>
                  <a:srgbClr val="4A5568"/>
                </a:solidFill>
              </a:rPr>
              <a:t> conforme workers aumentam
• 8 workers: 26.80s | 12 workers: 22.50s
• 28,5M+ linhas processadas na análise completa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FBD31A6-54AF-4CF6-9FF3-2D8366BBBE34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  Análise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Completa</a:t>
            </a:r>
            <a:r>
              <a:rPr lang="pt-BR" dirty="0"/>
              <a:t> </a:t>
            </a:r>
            <a:r>
              <a:rPr lang="pt-BR" sz="2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Todos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Os</a:t>
            </a:r>
            <a:r>
              <a:rPr lang="pt-BR" dirty="0"/>
              <a:t> </a:t>
            </a:r>
            <a:r>
              <a:rPr lang="pt-BR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Gráficos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FBA572-62FC-44C8-AB45-1BCDFA1BF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885"/>
            <a:ext cx="9144000" cy="357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0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Conclusões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🏆 Top 5 — Mais Avaliados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⭐ Top 5 — Melhor Média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246120"/>
            <a:ext cx="8412480" cy="1572768"/>
          </a:xfrm>
          <a:prstGeom prst="roundRect">
            <a:avLst>
              <a:gd name="adj" fmla="val 5814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</a:rPr>
              <a:t>Conclusões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3675888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①  </a:t>
            </a:r>
            <a:r>
              <a:rPr lang="en-US" sz="950" dirty="0">
                <a:solidFill>
                  <a:srgbClr val="ADB8C5"/>
                </a:solidFill>
              </a:rPr>
              <a:t>Paralelismo real: speedup de 5.63× com 12 workers demonstra ganho concreto em grandes volumes de dados.
</a:t>
            </a:r>
            <a:r>
              <a:rPr lang="en-US" sz="950" b="1" dirty="0">
                <a:solidFill>
                  <a:srgbClr val="00B4D8"/>
                </a:solidFill>
              </a:rPr>
              <a:t>②  </a:t>
            </a:r>
            <a:r>
              <a:rPr lang="en-US" sz="950" dirty="0">
                <a:solidFill>
                  <a:srgbClr val="ADB8C5"/>
                </a:solidFill>
              </a:rPr>
              <a:t>Eficiência decrescente: cai de 100% (serial) para 47% (12 workers) — cada worker adicionado gera overhead proporcional.
</a:t>
            </a:r>
            <a:r>
              <a:rPr lang="en-US" sz="950" b="1" dirty="0">
                <a:solidFill>
                  <a:srgbClr val="00B4D8"/>
                </a:solidFill>
              </a:rPr>
              <a:t>③  </a:t>
            </a:r>
            <a:r>
              <a:rPr lang="en-US" sz="950" dirty="0">
                <a:solidFill>
                  <a:srgbClr val="ADB8C5"/>
                </a:solidFill>
              </a:rPr>
              <a:t>Escalabilidade planejada: arquitetura com fila de processamento e workers independentes suporta expansão horizontal.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— Rankings Completos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6C7"/>
                </a:solidFill>
              </a:rPr>
              <a:t>🏆  Mais Avaliados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60520" cy="356616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Wars: Ep. IV (1977)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Jurassic Park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153.584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Braveheart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138.380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 Story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137.768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96C7"/>
                </a:solidFill>
              </a:rPr>
              <a:t>⭐  Melhor Média (mín. avaliações)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14800" cy="3566160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Peaks (1989)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Cosmos: A Spacetime Odyssey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Window (1954)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(1942)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94A3B8"/>
                </a:solidFill>
              </a:rPr>
              <a:t>* Alguns filmes sem metadados no arquivo metadata_updated.json aparecem como 'ID Desconhecido' no dataset.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600</Words>
  <Application>Microsoft Office PowerPoint</Application>
  <PresentationFormat>Apresentação na tela (16:9)</PresentationFormat>
  <Paragraphs>180</Paragraphs>
  <Slides>7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Paralelo de Processamento de Avaliações de Filmes</dc:title>
  <dc:subject>PptxGenJS Presentation</dc:subject>
  <dc:creator>PptxGenJS</dc:creator>
  <cp:lastModifiedBy>Aluno</cp:lastModifiedBy>
  <cp:revision>7</cp:revision>
  <dcterms:created xsi:type="dcterms:W3CDTF">2026-06-26T11:51:40Z</dcterms:created>
  <dcterms:modified xsi:type="dcterms:W3CDTF">2026-06-26T13:09:41Z</dcterms:modified>
</cp:coreProperties>
</file>