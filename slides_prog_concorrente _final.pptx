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10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pt-BR" sz="1100" b="0" i="0" u="none" strike="noStrike">
                <a:solidFill>
                  <a:srgbClr val="0D1B2A"/>
                </a:solidFill>
                <a:latin typeface="Arial"/>
              </a:rPr>
              <a:t>Speedup por Número de Workers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Speedup</c:v>
                </c:pt>
              </c:strCache>
            </c:strRef>
          </c:tx>
          <c:spPr>
            <a:solidFill>
              <a:srgbClr val="0096C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814-42A8-AFE0-F708DDEFD9F7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E814-42A8-AFE0-F708DDEFD9F7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E814-42A8-AFE0-F708DDEFD9F7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E814-42A8-AFE0-F708DDEFD9F7}"/>
              </c:ext>
            </c:extLst>
          </c:dPt>
          <c:dPt>
            <c:idx val="4"/>
            <c:invertIfNegative val="0"/>
            <c:bubble3D val="0"/>
            <c:spPr>
              <a:solidFill>
                <a:srgbClr val="F77F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814-42A8-AFE0-F708DDEFD9F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Serial</c:v>
                </c:pt>
                <c:pt idx="1">
                  <c:v>2 Workers</c:v>
                </c:pt>
                <c:pt idx="2">
                  <c:v>4 Workers</c:v>
                </c:pt>
                <c:pt idx="3">
                  <c:v>8 Workers</c:v>
                </c:pt>
                <c:pt idx="4">
                  <c:v>12 Workers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1.79</c:v>
                </c:pt>
                <c:pt idx="2">
                  <c:v>3.12</c:v>
                </c:pt>
                <c:pt idx="3">
                  <c:v>4.7300000000000004</c:v>
                </c:pt>
                <c:pt idx="4">
                  <c:v>5.63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814-42A8-AFE0-F708DDEFD9F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pt-B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pt-B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5513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4114800" cy="4114800"/>
          </a:xfrm>
          <a:prstGeom prst="ellipse">
            <a:avLst/>
          </a:prstGeom>
          <a:solidFill>
            <a:srgbClr val="00B4D8">
              <a:alpha val="18000"/>
            </a:srgbClr>
          </a:solidFill>
          <a:ln w="12700">
            <a:solidFill>
              <a:srgbClr val="00B4D8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2286000"/>
            <a:ext cx="2743200" cy="2743200"/>
          </a:xfrm>
          <a:prstGeom prst="ellipse">
            <a:avLst/>
          </a:prstGeom>
          <a:solidFill>
            <a:srgbClr val="90E0EF">
              <a:alpha val="12000"/>
            </a:srgbClr>
          </a:solidFill>
          <a:ln w="12700">
            <a:solidFill>
              <a:srgbClr val="90E0E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11480"/>
            <a:ext cx="3840480" cy="347472"/>
          </a:xfrm>
          <a:prstGeom prst="roundRect">
            <a:avLst>
              <a:gd name="adj" fmla="val 21053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114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0D1B2A"/>
                </a:solidFill>
              </a:rPr>
              <a:t>PROGRAMAÇÃO CONCORRENTE E DISTRIBUÍDA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77724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Paralelo de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Processamento de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Avaliações de Filmes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4D8"/>
                </a:solidFill>
              </a:rPr>
              <a:t>MovieLens 10.5 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7673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DB8C5"/>
                </a:solidFill>
              </a:rPr>
              <a:t>10.5 milhões de avaliações  ·  84.661 filmes  ·  milhares de usuários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4133088"/>
            <a:ext cx="8229600" cy="0"/>
          </a:xfrm>
          <a:prstGeom prst="line">
            <a:avLst/>
          </a:prstGeom>
          <a:noFill/>
          <a:ln w="12700">
            <a:solidFill>
              <a:srgbClr val="0096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DB8C5"/>
                </a:solidFill>
              </a:rPr>
              <a:t>Prof. Rafael Marconi   ·   </a:t>
            </a:r>
            <a:r>
              <a:rPr lang="en-US" sz="1000" b="1" dirty="0">
                <a:solidFill>
                  <a:srgbClr val="FFFFFF"/>
                </a:solidFill>
              </a:rPr>
              <a:t>Filipe Ferreira  &amp;  Max Muller</a:t>
            </a:r>
            <a:r>
              <a:rPr lang="en-US" sz="1000" dirty="0">
                <a:solidFill>
                  <a:srgbClr val="ADB8C5"/>
                </a:solidFill>
              </a:rPr>
              <a:t>   ·   </a:t>
            </a:r>
            <a:r>
              <a:rPr lang="en-US" sz="1000" dirty="0" err="1">
                <a:solidFill>
                  <a:srgbClr val="ADB8C5"/>
                </a:solidFill>
              </a:rPr>
              <a:t>Análise</a:t>
            </a:r>
            <a:r>
              <a:rPr lang="en-US" sz="1000" dirty="0">
                <a:solidFill>
                  <a:srgbClr val="ADB8C5"/>
                </a:solidFill>
              </a:rPr>
              <a:t> e </a:t>
            </a:r>
            <a:r>
              <a:rPr lang="en-US" sz="1000" dirty="0" err="1">
                <a:solidFill>
                  <a:srgbClr val="ADB8C5"/>
                </a:solidFill>
              </a:rPr>
              <a:t>Desenvolvimento</a:t>
            </a:r>
            <a:r>
              <a:rPr lang="en-US" sz="1000" dirty="0">
                <a:solidFill>
                  <a:srgbClr val="ADB8C5"/>
                </a:solidFill>
              </a:rPr>
              <a:t> de </a:t>
            </a:r>
            <a:r>
              <a:rPr lang="en-US" sz="1000" dirty="0" err="1">
                <a:solidFill>
                  <a:srgbClr val="ADB8C5"/>
                </a:solidFill>
              </a:rPr>
              <a:t>Sistemas</a:t>
            </a:r>
            <a:r>
              <a:rPr lang="en-US" sz="1000" dirty="0">
                <a:solidFill>
                  <a:srgbClr val="ADB8C5"/>
                </a:solidFill>
              </a:rPr>
              <a:t> &amp; </a:t>
            </a:r>
            <a:r>
              <a:rPr lang="en-US" sz="1000" dirty="0" err="1">
                <a:solidFill>
                  <a:srgbClr val="ADB8C5"/>
                </a:solidFill>
              </a:rPr>
              <a:t>Sistemas</a:t>
            </a:r>
            <a:r>
              <a:rPr lang="en-US" sz="1000" dirty="0">
                <a:solidFill>
                  <a:srgbClr val="ADB8C5"/>
                </a:solidFill>
              </a:rPr>
              <a:t> de </a:t>
            </a:r>
            <a:r>
              <a:rPr lang="en-US" sz="1000" dirty="0" err="1">
                <a:solidFill>
                  <a:srgbClr val="ADB8C5"/>
                </a:solidFill>
              </a:rPr>
              <a:t>Informação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Visão Geral do Projeto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96C7"/>
                </a:solidFill>
              </a:rPr>
              <a:t>Objetivos e Dataset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371600"/>
            <a:ext cx="47548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0E8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41732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34440" y="14447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2A"/>
                </a:solidFill>
              </a:rPr>
              <a:t>Processar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34440" y="176479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10,5M+ avaliações de filmes com múltiplos workers paralelos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" y="2514600"/>
            <a:ext cx="47548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0E8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56032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34440" y="25877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2A"/>
                </a:solidFill>
              </a:rPr>
              <a:t>Rankear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34440" y="290779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Top 10 filmes por média, por popularidade e geral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3657600"/>
            <a:ext cx="47548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0E8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370332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234440" y="37307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2A"/>
                </a:solidFill>
              </a:rPr>
              <a:t>Comparar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34440" y="405079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Execução serial vs. paralela — medir speedup e escalabilidade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394960" y="1371600"/>
            <a:ext cx="3337560" cy="3429000"/>
          </a:xfrm>
          <a:prstGeom prst="roundRect">
            <a:avLst>
              <a:gd name="adj" fmla="val 3288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94960" y="1481328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</a:rPr>
              <a:t>Dataset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94960" y="1847088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MovieLens 10.5 M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394960" y="233172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</a:rPr>
              <a:t>10,5M+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394960" y="2660904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DB8C5"/>
                </a:solidFill>
              </a:rPr>
              <a:t>Avaliações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394960" y="299008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</a:rPr>
              <a:t>84.661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94960" y="331927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DB8C5"/>
                </a:solidFill>
              </a:rPr>
              <a:t>Filmes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394960" y="3648456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</a:rPr>
              <a:t>28,5M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394960" y="397764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DB8C5"/>
                </a:solidFill>
              </a:rPr>
              <a:t>Linhas carregadas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394960" y="4306824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</a:rPr>
              <a:t>23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394960" y="463600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DB8C5"/>
                </a:solidFill>
              </a:rPr>
              <a:t>Lotes de processamento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 e Tecnologias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840480" cy="530352"/>
          </a:xfrm>
          <a:prstGeom prst="roundRect">
            <a:avLst>
              <a:gd name="adj" fmla="val 13793"/>
            </a:avLst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Cliente / API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536192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D8"/>
                </a:solidFill>
              </a:rPr>
              <a:t>▼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755648"/>
            <a:ext cx="3840480" cy="530352"/>
          </a:xfrm>
          <a:prstGeom prst="roundRect">
            <a:avLst>
              <a:gd name="adj" fmla="val 13793"/>
            </a:avLst>
          </a:prstGeom>
          <a:solidFill>
            <a:srgbClr val="0096C7">
              <a:alpha val="80000"/>
            </a:srgbClr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755648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Banco de Dados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286000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D8"/>
                </a:solidFill>
              </a:rPr>
              <a:t>▼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505456"/>
            <a:ext cx="3840480" cy="530352"/>
          </a:xfrm>
          <a:prstGeom prst="roundRect">
            <a:avLst>
              <a:gd name="adj" fmla="val 13793"/>
            </a:avLst>
          </a:prstGeom>
          <a:solidFill>
            <a:srgbClr val="0077B6">
              <a:alpha val="80000"/>
            </a:srgbClr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505456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Fila de Processamento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3035808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D8"/>
                </a:solidFill>
              </a:rPr>
              <a:t>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255264"/>
            <a:ext cx="3840480" cy="530352"/>
          </a:xfrm>
          <a:prstGeom prst="roundRect">
            <a:avLst>
              <a:gd name="adj" fmla="val 13793"/>
            </a:avLst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255264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Workers (2 / 4 / 8 / 12)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3785616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D8"/>
                </a:solidFill>
              </a:rPr>
              <a:t>▼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4005072"/>
            <a:ext cx="3840480" cy="530352"/>
          </a:xfrm>
          <a:prstGeom prst="roundRect">
            <a:avLst>
              <a:gd name="adj" fmla="val 13793"/>
            </a:avLst>
          </a:prstGeom>
          <a:solidFill>
            <a:srgbClr val="48CAE4">
              <a:alpha val="80000"/>
            </a:srgbClr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00507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Resultados / Rankings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10058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B4D8"/>
                </a:solidFill>
              </a:rPr>
              <a:t>Stack Tecnológico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1444752"/>
            <a:ext cx="3977640" cy="457200"/>
          </a:xfrm>
          <a:prstGeom prst="roundRect">
            <a:avLst>
              <a:gd name="adj" fmla="val 14000"/>
            </a:avLst>
          </a:prstGeom>
          <a:solidFill>
            <a:srgbClr val="1A2E4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148132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B4D8"/>
                </a:solidFill>
              </a:rPr>
              <a:t>Python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92040" y="16824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ADB8C5"/>
                </a:solidFill>
              </a:rPr>
              <a:t>Linguagem principal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754880" y="2020824"/>
            <a:ext cx="3977640" cy="457200"/>
          </a:xfrm>
          <a:prstGeom prst="roundRect">
            <a:avLst>
              <a:gd name="adj" fmla="val 14000"/>
            </a:avLst>
          </a:prstGeom>
          <a:solidFill>
            <a:srgbClr val="1A2E4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205740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B4D8"/>
                </a:solidFill>
              </a:rPr>
              <a:t>FastAPI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92040" y="22585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ADB8C5"/>
                </a:solidFill>
              </a:rPr>
              <a:t>Interface REST / Cliente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754880" y="2596896"/>
            <a:ext cx="3977640" cy="457200"/>
          </a:xfrm>
          <a:prstGeom prst="roundRect">
            <a:avLst>
              <a:gd name="adj" fmla="val 14000"/>
            </a:avLst>
          </a:prstGeom>
          <a:solidFill>
            <a:srgbClr val="1A2E4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263347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B4D8"/>
                </a:solidFill>
              </a:rPr>
              <a:t>multiprocessing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92040" y="28346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ADB8C5"/>
                </a:solidFill>
              </a:rPr>
              <a:t>Módulo nativo de processos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754880" y="3172968"/>
            <a:ext cx="3977640" cy="457200"/>
          </a:xfrm>
          <a:prstGeom prst="roundRect">
            <a:avLst>
              <a:gd name="adj" fmla="val 14000"/>
            </a:avLst>
          </a:prstGeom>
          <a:solidFill>
            <a:srgbClr val="1A2E45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9" name="Text 27"/>
          <p:cNvSpPr/>
          <p:nvPr/>
        </p:nvSpPr>
        <p:spPr>
          <a:xfrm>
            <a:off x="4892040" y="320954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 err="1">
                <a:solidFill>
                  <a:srgbClr val="00B4D8"/>
                </a:solidFill>
              </a:rPr>
              <a:t>mp.Pool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92040" y="341071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850" dirty="0">
                <a:solidFill>
                  <a:srgbClr val="ADB8C5"/>
                </a:solidFill>
              </a:rPr>
              <a:t>Pool de processos via </a:t>
            </a:r>
            <a:r>
              <a:rPr lang="pt-BR" sz="850" dirty="0" err="1">
                <a:solidFill>
                  <a:srgbClr val="ADB8C5"/>
                </a:solidFill>
              </a:rPr>
              <a:t>pool.map</a:t>
            </a:r>
            <a:r>
              <a:rPr lang="pt-BR" sz="850" dirty="0">
                <a:solidFill>
                  <a:srgbClr val="ADB8C5"/>
                </a:solidFill>
              </a:rPr>
              <a:t>() — distribui </a:t>
            </a:r>
            <a:r>
              <a:rPr lang="pt-BR" sz="850" dirty="0" err="1">
                <a:solidFill>
                  <a:srgbClr val="ADB8C5"/>
                </a:solidFill>
              </a:rPr>
              <a:t>chunks</a:t>
            </a:r>
            <a:r>
              <a:rPr lang="pt-BR" sz="850" dirty="0">
                <a:solidFill>
                  <a:srgbClr val="ADB8C5"/>
                </a:solidFill>
              </a:rPr>
              <a:t> entre </a:t>
            </a:r>
            <a:r>
              <a:rPr lang="pt-BR" sz="850" dirty="0" err="1">
                <a:solidFill>
                  <a:srgbClr val="ADB8C5"/>
                </a:solidFill>
              </a:rPr>
              <a:t>workers</a:t>
            </a:r>
            <a:endParaRPr lang="en-US" sz="850" dirty="0">
              <a:solidFill>
                <a:srgbClr val="ADB8C5"/>
              </a:solidFill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754880" y="3749040"/>
            <a:ext cx="3977640" cy="457200"/>
          </a:xfrm>
          <a:prstGeom prst="roundRect">
            <a:avLst>
              <a:gd name="adj" fmla="val 14000"/>
            </a:avLst>
          </a:prstGeom>
          <a:solidFill>
            <a:srgbClr val="1A2E4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378561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B4D8"/>
                </a:solidFill>
              </a:rPr>
              <a:t>concurrent.futures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92040" y="398678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ADB8C5"/>
                </a:solidFill>
              </a:rPr>
              <a:t>Abstração de paralelismo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754880" y="4325112"/>
            <a:ext cx="3977640" cy="457200"/>
          </a:xfrm>
          <a:prstGeom prst="roundRect">
            <a:avLst>
              <a:gd name="adj" fmla="val 14000"/>
            </a:avLst>
          </a:prstGeom>
          <a:solidFill>
            <a:srgbClr val="1A2E4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436168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B4D8"/>
                </a:solidFill>
              </a:rPr>
              <a:t>Docker Compose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92040" y="45628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ADB8C5"/>
                </a:solidFill>
              </a:rPr>
              <a:t>Orquestração de serviços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 de Performance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77F00"/>
                </a:solidFill>
              </a:rPr>
              <a:t>5.63×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155448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Speedup Máximo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773936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DB8C5"/>
                </a:solidFill>
              </a:rPr>
              <a:t>12 workers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91840" y="960120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10515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4D8"/>
                </a:solidFill>
              </a:rPr>
              <a:t>126.6s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291840" y="155448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Tempo Serial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91840" y="1773936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DB8C5"/>
                </a:solidFill>
              </a:rPr>
              <a:t>baseline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172200" y="960120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72200" y="10515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4D8"/>
                </a:solidFill>
              </a:rPr>
              <a:t>22.5s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172200" y="155448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Melhor Paralelo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172200" y="1773936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DB8C5"/>
                </a:solidFill>
              </a:rPr>
              <a:t>12 workers</a:t>
            </a:r>
            <a:endParaRPr lang="en-US" sz="8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411480" y="2148840"/>
          <a:ext cx="530352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Shape 14"/>
          <p:cNvSpPr/>
          <p:nvPr/>
        </p:nvSpPr>
        <p:spPr>
          <a:xfrm>
            <a:off x="5943600" y="2148840"/>
            <a:ext cx="283464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0E8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035040" y="22402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1B2A"/>
                </a:solidFill>
              </a:rPr>
              <a:t>📌 Observações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035040" y="2633472"/>
            <a:ext cx="26060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• Ganho de </a:t>
            </a:r>
            <a:r>
              <a:rPr lang="en-US" sz="950" b="1" dirty="0">
                <a:solidFill>
                  <a:srgbClr val="F77F00"/>
                </a:solidFill>
              </a:rPr>
              <a:t>5.63× </a:t>
            </a:r>
            <a:r>
              <a:rPr lang="en-US" sz="950" dirty="0">
                <a:solidFill>
                  <a:srgbClr val="4A5568"/>
                </a:solidFill>
              </a:rPr>
              <a:t>com 12 workers
• Eficiência paralela: </a:t>
            </a:r>
            <a:r>
              <a:rPr lang="en-US" sz="950" b="1" dirty="0">
                <a:solidFill>
                  <a:srgbClr val="D62828"/>
                </a:solidFill>
              </a:rPr>
              <a:t>cai de 90% → 47%</a:t>
            </a:r>
            <a:r>
              <a:rPr lang="en-US" sz="950" dirty="0">
                <a:solidFill>
                  <a:srgbClr val="4A5568"/>
                </a:solidFill>
              </a:rPr>
              <a:t> conforme workers aumentam
• 8 workers: 26.80s | 12 workers: 22.50s
• 28,5M+ linhas processadas na análise completa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DFBD31A6-54AF-4CF6-9FF3-2D8366BBBE34}"/>
              </a:ext>
            </a:extLst>
          </p:cNvPr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r>
              <a:rPr lang="pt-BR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   Análise</a:t>
            </a:r>
            <a:r>
              <a:rPr lang="pt-BR" dirty="0"/>
              <a:t> </a:t>
            </a:r>
            <a:r>
              <a:rPr lang="pt-BR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Completa</a:t>
            </a:r>
            <a:r>
              <a:rPr lang="pt-BR" dirty="0"/>
              <a:t> </a:t>
            </a:r>
            <a:r>
              <a:rPr lang="pt-BR" sz="22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</a:t>
            </a:r>
            <a:r>
              <a:rPr lang="pt-BR" dirty="0"/>
              <a:t> </a:t>
            </a:r>
            <a:r>
              <a:rPr lang="pt-BR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Todos</a:t>
            </a:r>
            <a:r>
              <a:rPr lang="pt-BR" dirty="0"/>
              <a:t> </a:t>
            </a:r>
            <a:r>
              <a:rPr lang="pt-BR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Os</a:t>
            </a:r>
            <a:r>
              <a:rPr lang="pt-BR" dirty="0"/>
              <a:t> </a:t>
            </a:r>
            <a:r>
              <a:rPr lang="pt-BR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Gráficos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3FBA572-62FC-44C8-AB45-1BCDFA1BF1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2885"/>
            <a:ext cx="9144000" cy="3574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7032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e Conclusões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B4D8"/>
                </a:solidFill>
              </a:rPr>
              <a:t>🏆 Top 5 — Mais Avaliados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53312"/>
          <a:ext cx="4114800" cy="1783080"/>
        </p:xfrm>
        <a:graphic>
          <a:graphicData uri="http://schemas.openxmlformats.org/drawingml/2006/table">
            <a:tbl>
              <a:tblPr/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Shawshank Redemption (1994)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ADB8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197.934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Forrest Gump (1994)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ADB8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195.544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Pulp Fiction (1994)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ADB8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186.312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Silence of the Lambs (1991)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ADB8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177.146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Matrix (1999)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ADB8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170.862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3"/>
          <p:cNvSpPr/>
          <p:nvPr/>
        </p:nvSpPr>
        <p:spPr>
          <a:xfrm>
            <a:off x="4663440" y="9601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B4D8"/>
                </a:solidFill>
              </a:rPr>
              <a:t>⭐ Top 5 — Melhor Média</a:t>
            </a:r>
            <a:endParaRPr lang="en-US" sz="11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353312"/>
          <a:ext cx="4114800" cy="1783080"/>
        </p:xfrm>
        <a:graphic>
          <a:graphicData uri="http://schemas.openxmlformats.org/drawingml/2006/table">
            <a:tbl>
              <a:tblPr/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77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Planet Earth II (2016)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90E0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77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Planet Earth (2006)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90E0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77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Shawshank Redemption (1994)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90E0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77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 of Brothers (2001)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90E0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77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Cosmos (série)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90E0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365760" y="3246120"/>
            <a:ext cx="8412480" cy="1572768"/>
          </a:xfrm>
          <a:prstGeom prst="roundRect">
            <a:avLst>
              <a:gd name="adj" fmla="val 5814"/>
            </a:avLst>
          </a:prstGeom>
          <a:solidFill>
            <a:srgbClr val="1A2E4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48640" y="331012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B4D8"/>
                </a:solidFill>
              </a:rPr>
              <a:t>Conclusões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48640" y="3675888"/>
            <a:ext cx="804672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</a:rPr>
              <a:t>①  </a:t>
            </a:r>
            <a:r>
              <a:rPr lang="en-US" sz="950" dirty="0">
                <a:solidFill>
                  <a:srgbClr val="ADB8C5"/>
                </a:solidFill>
              </a:rPr>
              <a:t>Paralelismo real: speedup de 5.63× com 12 workers demonstra ganho concreto em grandes volumes de dados.
</a:t>
            </a:r>
            <a:r>
              <a:rPr lang="en-US" sz="950" b="1" dirty="0">
                <a:solidFill>
                  <a:srgbClr val="00B4D8"/>
                </a:solidFill>
              </a:rPr>
              <a:t>②  </a:t>
            </a:r>
            <a:r>
              <a:rPr lang="en-US" sz="950" dirty="0">
                <a:solidFill>
                  <a:srgbClr val="ADB8C5"/>
                </a:solidFill>
              </a:rPr>
              <a:t>Eficiência decrescente: cai de 100% (serial) para 47% (12 workers) — cada worker adicionado gera overhead proporcional.
</a:t>
            </a:r>
            <a:r>
              <a:rPr lang="en-US" sz="950" b="1" dirty="0">
                <a:solidFill>
                  <a:srgbClr val="00B4D8"/>
                </a:solidFill>
              </a:rPr>
              <a:t>③  </a:t>
            </a:r>
            <a:r>
              <a:rPr lang="en-US" sz="950" dirty="0">
                <a:solidFill>
                  <a:srgbClr val="ADB8C5"/>
                </a:solidFill>
              </a:rPr>
              <a:t>Escalabilidade planejada: arquitetura com fila de processamento e workers independentes suporta expansão horizontal.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10 — Rankings Completos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96C7"/>
                </a:solidFill>
              </a:rPr>
              <a:t>🏆  Mais Avaliados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25880"/>
          <a:ext cx="4160520" cy="3566160"/>
        </p:xfrm>
        <a:graphic>
          <a:graphicData uri="http://schemas.openxmlformats.org/drawingml/2006/table">
            <a:tbl>
              <a:tblPr/>
              <a:tblGrid>
                <a:gridCol w="384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3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77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Shawshank Redemption (1994)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197.934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77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Forrest Gump (1994)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195.544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77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Pulp Fiction (1994)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186.312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96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Silence of the Lambs (1991)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177.146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96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Matrix (1999)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170.862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96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 Wars: Ep. IV (1977)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164.900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96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Jurassic Park (1993)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153.584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96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Schindler's List (1993)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144.286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96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Braveheart (1995)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138.380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96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Toy Story (1995)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137.768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663440" y="9601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96C7"/>
                </a:solidFill>
              </a:rPr>
              <a:t>⭐  Melhor Média (mín. avaliações)</a:t>
            </a:r>
            <a:endParaRPr lang="en-US" sz="11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325880"/>
          <a:ext cx="4114800" cy="3566160"/>
        </p:xfrm>
        <a:graphic>
          <a:graphicData uri="http://schemas.openxmlformats.org/drawingml/2006/table">
            <a:tbl>
              <a:tblPr/>
              <a:tblGrid>
                <a:gridCol w="3474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4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77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Planet Earth II (2016)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2.208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77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Planet Earth (2006)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3.362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77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Shawshank Redemption (1994)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197.934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96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 of Brothers (2001)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2.634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96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Cosmos (série)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96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Twin Peaks (1989)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96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Cosmos: A Spacetime Odyssey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96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Schindler's List (1993)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144.286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96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Rear Window (1954)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16.318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96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Casablanca (1942)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20.160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94A3B8"/>
                </a:solidFill>
              </a:rPr>
              <a:t>* Alguns filmes sem metadados no arquivo metadata_updated.json aparecem como 'ID Desconhecido' no dataset.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600</Words>
  <Application>Microsoft Office PowerPoint</Application>
  <PresentationFormat>Apresentação na tela (16:9)</PresentationFormat>
  <Paragraphs>180</Paragraphs>
  <Slides>7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Paralelo de Processamento de Avaliações de Filmes</dc:title>
  <dc:subject>PptxGenJS Presentation</dc:subject>
  <dc:creator>PptxGenJS</dc:creator>
  <cp:lastModifiedBy>Aluno</cp:lastModifiedBy>
  <cp:revision>7</cp:revision>
  <dcterms:created xsi:type="dcterms:W3CDTF">2026-06-26T11:51:40Z</dcterms:created>
  <dcterms:modified xsi:type="dcterms:W3CDTF">2026-06-26T13:08:32Z</dcterms:modified>
</cp:coreProperties>
</file>