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D1B2A"/>
                </a:solidFill>
                <a:latin typeface="Arial"/>
              </a:rPr>
              <a:t>Speedup por Número de Workers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0096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77F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Serial</c:v>
                  </c:pt>
                  <c:pt idx="1">
                    <c:v>2 Workers</c:v>
                  </c:pt>
                  <c:pt idx="2">
                    <c:v>4 Workers</c:v>
                  </c:pt>
                  <c:pt idx="3">
                    <c:v>8 Workers</c:v>
                  </c:pt>
                  <c:pt idx="4">
                    <c:v>12 Workers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1.79</c:v>
                </c:pt>
                <c:pt idx="2">
                  <c:v>3.12</c:v>
                </c:pt>
                <c:pt idx="3">
                  <c:v>4.41</c:v>
                </c:pt>
                <c:pt idx="4">
                  <c:v>4.31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90E0EF">
              <a:alpha val="12000"/>
            </a:srgbClr>
          </a:solidFill>
          <a:ln w="12700">
            <a:solidFill>
              <a:srgbClr val="90E0E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3840480" cy="347472"/>
          </a:xfrm>
          <a:prstGeom prst="roundRect">
            <a:avLst>
              <a:gd name="adj" fmla="val 2105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D1B2A"/>
                </a:solidFill>
              </a:rPr>
              <a:t>PROGRAMAÇÃO CONCORRENTE E DISTRIBUÍDA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Paralelo de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Processamento de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Avaliações de Filmes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MovieLens 10.5 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673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DB8C5"/>
                </a:solidFill>
              </a:rPr>
              <a:t>10.5 milhões de avaliações  ·  84.661 filmes  ·  milhares de usuários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133088"/>
            <a:ext cx="8229600" cy="0"/>
          </a:xfrm>
          <a:prstGeom prst="line">
            <a:avLst/>
          </a:prstGeom>
          <a:noFill/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DB8C5"/>
                </a:solidFill>
              </a:rPr>
              <a:t>Prof. Rafael Marconi   ·   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Filipe Ferreira  &amp;  Max Muller</a:t>
            </a:r>
            <a:pPr algn="l" indent="0" marL="0">
              <a:buNone/>
            </a:pPr>
            <a:r>
              <a:rPr lang="en-US" sz="1000" dirty="0">
                <a:solidFill>
                  <a:srgbClr val="ADB8C5"/>
                </a:solidFill>
              </a:rPr>
              <a:t>   ·   Sistemas de Informação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Projeto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6C7"/>
                </a:solidFill>
              </a:rPr>
              <a:t>Objetivos e Dataset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444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Processar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764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10,5M+ avaliações de filmes com múltiplos workers paralelos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60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587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Rankear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907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Top 10 filmes por média, por popularidade e geral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70332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730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Comparar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Execução serial vs. paralela — medir speedup e escalabilidade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94960" y="1371600"/>
            <a:ext cx="3337560" cy="3429000"/>
          </a:xfrm>
          <a:prstGeom prst="roundRect">
            <a:avLst>
              <a:gd name="adj" fmla="val 328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4960" y="148132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Dataset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184708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MovieLens 10.5 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94960" y="2331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10,5M+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394960" y="266090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DB8C5"/>
                </a:solidFill>
              </a:rPr>
              <a:t>Avaliações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94960" y="29900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84.661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94960" y="33192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DB8C5"/>
                </a:solidFill>
              </a:rPr>
              <a:t>Filmes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94960" y="364845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28,5M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94960" y="397764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DB8C5"/>
                </a:solidFill>
              </a:rPr>
              <a:t>Linhas carregadas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394960" y="430682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23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46360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DB8C5"/>
                </a:solidFill>
              </a:rPr>
              <a:t>Lotes de processamento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e Tecnologias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Cliente / API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5361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0096C7">
              <a:alpha val="8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5564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Banco de Dados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0077B6">
              <a:alpha val="8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0545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Fila de Processamento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55264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5526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Workers (2 / 4 / 8 / 12)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7856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005072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48CAE4">
              <a:alpha val="8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0050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Resultados / Rankings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Stack Tecnológico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444752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4813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Python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16824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DB8C5"/>
                </a:solidFill>
              </a:rPr>
              <a:t>Linguagem principal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2020824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20574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FastAPI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2585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DB8C5"/>
                </a:solidFill>
              </a:rPr>
              <a:t>Interface REST / Cliente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2596896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6334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multiprocessing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834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DB8C5"/>
                </a:solidFill>
              </a:rPr>
              <a:t>Módulo nativo de processos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3172968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32095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ProcessPoolExecutor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4107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DB8C5"/>
                </a:solidFill>
              </a:rPr>
              <a:t>Pool de workers paralelos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54880" y="3749040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7856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concurrent.futures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9867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DB8C5"/>
                </a:solidFill>
              </a:rPr>
              <a:t>Abstração de paralelismo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4325112"/>
            <a:ext cx="3977640" cy="457200"/>
          </a:xfrm>
          <a:prstGeom prst="roundRect">
            <a:avLst>
              <a:gd name="adj" fmla="val 14000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3616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Docker Compose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45628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DB8C5"/>
                </a:solidFill>
              </a:rPr>
              <a:t>Orquestração de serviços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de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7F00"/>
                </a:solidFill>
              </a:rPr>
              <a:t>4.41×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Speedup Máximo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7739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DB8C5"/>
                </a:solidFill>
              </a:rPr>
              <a:t>8 workers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126.6s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Tempo Serial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17739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DB8C5"/>
                </a:solidFill>
              </a:rPr>
              <a:t>baseline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28.7s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72200" y="15544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Melhor Paralelo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72200" y="177393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DB8C5"/>
                </a:solidFill>
              </a:rPr>
              <a:t>8 workers</a:t>
            </a:r>
            <a:endParaRPr lang="en-US" sz="8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11480" y="2148840"/>
          <a:ext cx="5303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943600" y="2148840"/>
            <a:ext cx="28346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0E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35040" y="2240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📌 Observações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35040" y="2633472"/>
            <a:ext cx="2606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Ganho de </a:t>
            </a:r>
            <a:pPr indent="0" marL="0">
              <a:buNone/>
            </a:pPr>
            <a:r>
              <a:rPr lang="en-US" sz="950" b="1" dirty="0">
                <a:solidFill>
                  <a:srgbClr val="F77F00"/>
                </a:solidFill>
              </a:rPr>
              <a:t>4.41×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com 8 workers
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12 workers </a:t>
            </a:r>
            <a:pPr indent="0" marL="0">
              <a:buNone/>
            </a:pPr>
            <a:r>
              <a:rPr lang="en-US" sz="950" b="1" dirty="0">
                <a:solidFill>
                  <a:srgbClr val="D62828"/>
                </a:solidFill>
              </a:rPr>
              <a:t>ligeira queda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 por saturação dos núcleos físicos
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Overhead de gerenciamento supera o ganho acima de 8 processos
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• 28,5M+ linhas processadas na análise completa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 Conclusões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🏆 Top 5 — Mais Avaliados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53312"/>
          <a:ext cx="4114800" cy="1783080"/>
        </p:xfrm>
        <a:graphic>
          <a:graphicData uri="http://schemas.openxmlformats.org/drawingml/2006/table">
            <a:tbl>
              <a:tblPr/>
              <a:tblGrid>
                <a:gridCol w="365760"/>
                <a:gridCol w="2697480"/>
                <a:gridCol w="1051560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Shawshank Redemption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197.934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Forrest Gump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195.544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Pulp Fiction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186.312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Silence of the Lambs (1991)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177.146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Matrix (1999)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ADB8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170.862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⭐ Top 5 — Melhor Média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53312"/>
          <a:ext cx="4114800" cy="1783080"/>
        </p:xfrm>
        <a:graphic>
          <a:graphicData uri="http://schemas.openxmlformats.org/drawingml/2006/table">
            <a:tbl>
              <a:tblPr/>
              <a:tblGrid>
                <a:gridCol w="365760"/>
                <a:gridCol w="2743200"/>
                <a:gridCol w="1005840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 Earth II (2016)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 Earth (2006)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Shawshank Redemption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of Brothers (2001)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 (série)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90E0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246120"/>
            <a:ext cx="8412480" cy="1572768"/>
          </a:xfrm>
          <a:prstGeom prst="roundRect">
            <a:avLst>
              <a:gd name="adj" fmla="val 5814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33101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Conclusões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3675888"/>
            <a:ext cx="80467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①  </a:t>
            </a:r>
            <a:pPr indent="0" marL="0">
              <a:buNone/>
            </a:pPr>
            <a:r>
              <a:rPr lang="en-US" sz="950" dirty="0">
                <a:solidFill>
                  <a:srgbClr val="ADB8C5"/>
                </a:solidFill>
              </a:rPr>
              <a:t>Paralelismo real: speedup de 4.41× com 8 workers demonstra ganho concreto em grandes volumes de dados.
</a:t>
            </a:r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②  </a:t>
            </a:r>
            <a:pPr indent="0" marL="0">
              <a:buNone/>
            </a:pPr>
            <a:r>
              <a:rPr lang="en-US" sz="950" dirty="0">
                <a:solidFill>
                  <a:srgbClr val="ADB8C5"/>
                </a:solidFill>
              </a:rPr>
              <a:t>Saturação de workers: acima de 8 processos, o overhead de gerenciamento supera o ganho — fenômeno esperado pela limitação física de núcleos.
</a:t>
            </a:r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③  </a:t>
            </a:r>
            <a:pPr indent="0" marL="0">
              <a:buNone/>
            </a:pPr>
            <a:r>
              <a:rPr lang="en-US" sz="950" dirty="0">
                <a:solidFill>
                  <a:srgbClr val="ADB8C5"/>
                </a:solidFill>
              </a:rPr>
              <a:t>Escalabilidade planejada: arquitetura com fila de processamento e workers independentes suporta expansão horizontal.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— Rankings Completos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🏆  Mais Avaliados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160520" cy="3566160"/>
        </p:xfrm>
        <a:graphic>
          <a:graphicData uri="http://schemas.openxmlformats.org/drawingml/2006/table">
            <a:tbl>
              <a:tblPr/>
              <a:tblGrid>
                <a:gridCol w="384048"/>
                <a:gridCol w="2743200"/>
                <a:gridCol w="1033272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Shawshank Redemption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197.934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Forrest Gump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195.544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Pulp Fiction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186.312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Silence of the Lambs (1991)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177.146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Matrix (1999)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170.862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 Wars: Ep. IV (1977)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164.900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Jurassic Park (1993)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153.584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Schindler's List (1993)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144.286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Braveheart (1995)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138.380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 Story (1995)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137.768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960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⭐  Melhor Média (mín. avaliações)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4114800" cy="3566160"/>
        </p:xfrm>
        <a:graphic>
          <a:graphicData uri="http://schemas.openxmlformats.org/drawingml/2006/table">
            <a:tbl>
              <a:tblPr/>
              <a:tblGrid>
                <a:gridCol w="347472"/>
                <a:gridCol w="2304288"/>
                <a:gridCol w="621792"/>
                <a:gridCol w="841248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 Earth II (2016)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Planet Earth (2006)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3.362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77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Shawshank Redemption (1994)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197.934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of Brothers (2001)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2.634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 (série)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 Peaks (1989)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Cosmos: A Spacetime Odyssey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Schindler's List (1993)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144.286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Rear Window (1954)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96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Casablanca (1942)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4A3B8"/>
                </a:solidFill>
              </a:rPr>
              <a:t>* Alguns filmes sem metadados no arquivo metadata_updated.json aparecem como 'ID Desconhecido' no dataset.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Paralelo de Processamento de Avaliações de Filmes</dc:title>
  <dc:subject>PptxGenJS Presentation</dc:subject>
  <dc:creator>PptxGenJS</dc:creator>
  <cp:lastModifiedBy>PptxGenJS</cp:lastModifiedBy>
  <cp:revision>1</cp:revision>
  <dcterms:created xsi:type="dcterms:W3CDTF">2026-06-19T12:11:42Z</dcterms:created>
  <dcterms:modified xsi:type="dcterms:W3CDTF">2026-06-19T12:11:42Z</dcterms:modified>
</cp:coreProperties>
</file>