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pt-BR" sz="1100" b="0" i="0" u="none" strike="noStrike">
                <a:solidFill>
                  <a:srgbClr val="0D1B2A"/>
                </a:solidFill>
                <a:latin typeface="Arial"/>
              </a:rPr>
              <a:t>Speedup por Número de Workers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96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814-42A8-AFE0-F708DDEFD9F7}"/>
              </c:ext>
            </c:extLst>
          </c:dPt>
          <c:dPt>
            <c:idx val="1"/>
            <c:invertIfNegative val="0"/>
            <c:bubble3D val="0"/>
            <c:spPr>
              <a:solidFill>
                <a:srgbClr val="0096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14-42A8-AFE0-F708DDEFD9F7}"/>
              </c:ext>
            </c:extLst>
          </c:dPt>
          <c:dPt>
            <c:idx val="2"/>
            <c:invertIfNegative val="0"/>
            <c:bubble3D val="0"/>
            <c:spPr>
              <a:solidFill>
                <a:srgbClr val="0096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14-42A8-AFE0-F708DDEFD9F7}"/>
              </c:ext>
            </c:extLst>
          </c:dPt>
          <c:dPt>
            <c:idx val="3"/>
            <c:invertIfNegative val="0"/>
            <c:bubble3D val="0"/>
            <c:spPr>
              <a:solidFill>
                <a:srgbClr val="0096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814-42A8-AFE0-F708DDEFD9F7}"/>
              </c:ext>
            </c:extLst>
          </c:dPt>
          <c:dPt>
            <c:idx val="4"/>
            <c:invertIfNegative val="0"/>
            <c:bubble3D val="0"/>
            <c:spPr>
              <a:solidFill>
                <a:srgbClr val="F7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814-42A8-AFE0-F708DDEFD9F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Serial</c:v>
                </c:pt>
                <c:pt idx="1">
                  <c:v>2 Workers</c:v>
                </c:pt>
                <c:pt idx="2">
                  <c:v>4 Workers</c:v>
                </c:pt>
                <c:pt idx="3">
                  <c:v>8 Workers</c:v>
                </c:pt>
                <c:pt idx="4">
                  <c:v>12 Workers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1.79</c:v>
                </c:pt>
                <c:pt idx="2">
                  <c:v>3.12</c:v>
                </c:pt>
                <c:pt idx="3">
                  <c:v>4.7300000000000004</c:v>
                </c:pt>
                <c:pt idx="4">
                  <c:v>5.63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814-42A8-AFE0-F708DDEFD9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513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90E0EF">
              <a:alpha val="12000"/>
            </a:srgbClr>
          </a:solidFill>
          <a:ln w="12700">
            <a:solidFill>
              <a:srgbClr val="90E0E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384048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D1B2A"/>
                </a:solidFill>
              </a:rPr>
              <a:t>PROGRAMAÇÃO CONCORRENTE E DISTRIBUÍDA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Paralelo de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Processamento de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Avaliações de Filmes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</a:rPr>
              <a:t>MovieLens 10.5 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67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DB8C5"/>
                </a:solidFill>
              </a:rPr>
              <a:t>10.5 milhões de avaliações  ·  84.661 filmes  ·  milhares de usuários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133088"/>
            <a:ext cx="8229600" cy="0"/>
          </a:xfrm>
          <a:prstGeom prst="line">
            <a:avLst/>
          </a:prstGeom>
          <a:noFill/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DB8C5"/>
                </a:solidFill>
              </a:rPr>
              <a:t>Prof. Rafael Marconi   ·   </a:t>
            </a:r>
            <a:r>
              <a:rPr lang="en-US" sz="1000" b="1" dirty="0">
                <a:solidFill>
                  <a:srgbClr val="FFFFFF"/>
                </a:solidFill>
              </a:rPr>
              <a:t>Filipe Ferreira  &amp;  Max Muller</a:t>
            </a:r>
            <a:r>
              <a:rPr lang="en-US" sz="1000" dirty="0">
                <a:solidFill>
                  <a:srgbClr val="ADB8C5"/>
                </a:solidFill>
              </a:rPr>
              <a:t>   ·   ANÁLISE E DESENVOLVIMENTO DE SOFTWARE &amp; </a:t>
            </a:r>
            <a:r>
              <a:rPr lang="en-US" sz="1000" dirty="0" err="1">
                <a:solidFill>
                  <a:srgbClr val="ADB8C5"/>
                </a:solidFill>
              </a:rPr>
              <a:t>Sistemas</a:t>
            </a:r>
            <a:endParaRPr lang="en-US" sz="1000" dirty="0">
              <a:solidFill>
                <a:srgbClr val="ADB8C5"/>
              </a:solidFill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ADB8C5"/>
                </a:solidFill>
              </a:rPr>
              <a:t> de </a:t>
            </a:r>
            <a:r>
              <a:rPr lang="en-US" sz="1000" dirty="0" err="1">
                <a:solidFill>
                  <a:srgbClr val="ADB8C5"/>
                </a:solidFill>
              </a:rPr>
              <a:t>Informação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Projeto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6C7"/>
                </a:solidFill>
              </a:rPr>
              <a:t>Objetivos e 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444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Processar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764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10,5M+ avaliações de filmes com múltiplos workers paralelos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0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Rankear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907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Top 10 filmes por média, por popularidade e geral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703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Comparar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Execução serial vs. paralela — medir speedup e escalabilidade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94960" y="1371600"/>
            <a:ext cx="3337560" cy="3429000"/>
          </a:xfrm>
          <a:prstGeom prst="roundRect">
            <a:avLst>
              <a:gd name="adj" fmla="val 328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4813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Dataset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18470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MovieLens 10.5 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9496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10,5M+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94960" y="26609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8C5"/>
                </a:solidFill>
              </a:rPr>
              <a:t>Avaliações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94960" y="29900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84.661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3192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8C5"/>
                </a:solidFill>
              </a:rPr>
              <a:t>Filmes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94960" y="364845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28,5M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94960" y="39776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8C5"/>
                </a:solidFill>
              </a:rPr>
              <a:t>Linhas carregadas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94960" y="43068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23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46360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8C5"/>
                </a:solidFill>
              </a:rPr>
              <a:t>Lotes de processamento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 Tecnologias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Cliente / API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5564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Banco de Dados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0077B6">
              <a:alpha val="8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0545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Fila de Processamento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5526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Workers (2 / 4 / 8 / 12)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7856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005072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48CAE4">
              <a:alpha val="8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050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Resultados / Rankings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4D8"/>
                </a:solidFill>
              </a:rPr>
              <a:t>Stack Tecnológico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444752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4813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Python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16824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Linguagem principal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2020824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0574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FastAPI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2585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Interface REST / Cliente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2596896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6334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multiprocessing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834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Módulo nativo de processos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3172968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/>
          <p:nvPr/>
        </p:nvSpPr>
        <p:spPr>
          <a:xfrm>
            <a:off x="4892040" y="3209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00B4D8"/>
                </a:solidFill>
              </a:rPr>
              <a:t>mp.Pool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4107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850" dirty="0">
                <a:solidFill>
                  <a:srgbClr val="ADB8C5"/>
                </a:solidFill>
              </a:rPr>
              <a:t>Pool de processos via </a:t>
            </a:r>
            <a:r>
              <a:rPr lang="pt-BR" sz="850" dirty="0" err="1">
                <a:solidFill>
                  <a:srgbClr val="ADB8C5"/>
                </a:solidFill>
              </a:rPr>
              <a:t>pool.map</a:t>
            </a:r>
            <a:r>
              <a:rPr lang="pt-BR" sz="850" dirty="0">
                <a:solidFill>
                  <a:srgbClr val="ADB8C5"/>
                </a:solidFill>
              </a:rPr>
              <a:t>() — distribui </a:t>
            </a:r>
            <a:r>
              <a:rPr lang="pt-BR" sz="850" dirty="0" err="1">
                <a:solidFill>
                  <a:srgbClr val="ADB8C5"/>
                </a:solidFill>
              </a:rPr>
              <a:t>chunks</a:t>
            </a:r>
            <a:r>
              <a:rPr lang="pt-BR" sz="850" dirty="0">
                <a:solidFill>
                  <a:srgbClr val="ADB8C5"/>
                </a:solidFill>
              </a:rPr>
              <a:t> entre </a:t>
            </a:r>
            <a:r>
              <a:rPr lang="pt-BR" sz="850" dirty="0" err="1">
                <a:solidFill>
                  <a:srgbClr val="ADB8C5"/>
                </a:solidFill>
              </a:rPr>
              <a:t>workers</a:t>
            </a:r>
            <a:endParaRPr lang="en-US" sz="850" dirty="0">
              <a:solidFill>
                <a:srgbClr val="ADB8C5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785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concurrent.futures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9867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Abstração de paralelismo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4325112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3616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Docker Compose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5628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Orquestração de serviços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de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7F00"/>
                </a:solidFill>
              </a:rPr>
              <a:t>5.63×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Speedup Máximo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773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DB8C5"/>
                </a:solidFill>
              </a:rPr>
              <a:t>12 workers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</a:rPr>
              <a:t>126.6s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Tempo Serial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1773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DB8C5"/>
                </a:solidFill>
              </a:rPr>
              <a:t>baseline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</a:rPr>
              <a:t>22.5s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1554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Melhor Paralelo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72200" y="1773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DB8C5"/>
                </a:solidFill>
              </a:rPr>
              <a:t>12 workers</a:t>
            </a:r>
            <a:endParaRPr lang="en-US" sz="8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11480" y="2148840"/>
          <a:ext cx="53035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5943600" y="214884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35040" y="2240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📌 Observações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35040" y="2633472"/>
            <a:ext cx="2606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• Ganho de </a:t>
            </a:r>
            <a:r>
              <a:rPr lang="en-US" sz="950" b="1" dirty="0">
                <a:solidFill>
                  <a:srgbClr val="F77F00"/>
                </a:solidFill>
              </a:rPr>
              <a:t>5.63× </a:t>
            </a:r>
            <a:r>
              <a:rPr lang="en-US" sz="950" dirty="0">
                <a:solidFill>
                  <a:srgbClr val="4A5568"/>
                </a:solidFill>
              </a:rPr>
              <a:t>com 12 workers
• Eficiência paralela: </a:t>
            </a:r>
            <a:r>
              <a:rPr lang="en-US" sz="950" b="1" dirty="0">
                <a:solidFill>
                  <a:srgbClr val="D62828"/>
                </a:solidFill>
              </a:rPr>
              <a:t>cai de 90% → 47%</a:t>
            </a:r>
            <a:r>
              <a:rPr lang="en-US" sz="950" dirty="0">
                <a:solidFill>
                  <a:srgbClr val="4A5568"/>
                </a:solidFill>
              </a:rPr>
              <a:t> conforme workers aumentam
• 8 workers: 26.80s | 12 workers: 22.50s
• 28,5M+ linhas processadas na análise completa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Conclusões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</a:rPr>
              <a:t>🏆 Top 5 — Mais Avaliados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53312"/>
          <a:ext cx="4114800" cy="17830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197.934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Forrest Gump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195.544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Pulp Fiction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186.312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 of the Lambs (1991)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177.146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Matrix (1999)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170.862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</a:rPr>
              <a:t>⭐ Top 5 — Melhor Média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53312"/>
          <a:ext cx="4114800" cy="17830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II (2016)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(2006)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of Brothers (2001)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 (série)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246120"/>
            <a:ext cx="8412480" cy="1572768"/>
          </a:xfrm>
          <a:prstGeom prst="roundRect">
            <a:avLst>
              <a:gd name="adj" fmla="val 5814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310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</a:rPr>
              <a:t>Conclusões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3675888"/>
            <a:ext cx="8046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①  </a:t>
            </a:r>
            <a:r>
              <a:rPr lang="en-US" sz="950" dirty="0">
                <a:solidFill>
                  <a:srgbClr val="ADB8C5"/>
                </a:solidFill>
              </a:rPr>
              <a:t>Paralelismo real: speedup de 5.63× com 12 workers demonstra ganho concreto em grandes volumes de dados.
</a:t>
            </a:r>
            <a:r>
              <a:rPr lang="en-US" sz="950" b="1" dirty="0">
                <a:solidFill>
                  <a:srgbClr val="00B4D8"/>
                </a:solidFill>
              </a:rPr>
              <a:t>②  </a:t>
            </a:r>
            <a:r>
              <a:rPr lang="en-US" sz="950" dirty="0">
                <a:solidFill>
                  <a:srgbClr val="ADB8C5"/>
                </a:solidFill>
              </a:rPr>
              <a:t>Eficiência decrescente: cai de 100% (serial) para 47% (12 workers) — cada worker adicionado gera overhead proporcional.
</a:t>
            </a:r>
            <a:r>
              <a:rPr lang="en-US" sz="950" b="1" dirty="0">
                <a:solidFill>
                  <a:srgbClr val="00B4D8"/>
                </a:solidFill>
              </a:rPr>
              <a:t>③  </a:t>
            </a:r>
            <a:r>
              <a:rPr lang="en-US" sz="950" dirty="0">
                <a:solidFill>
                  <a:srgbClr val="ADB8C5"/>
                </a:solidFill>
              </a:rPr>
              <a:t>Escalabilidade planejada: arquitetura com fila de processamento e workers independentes suporta expansão horizontal.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— Rankings Completos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96C7"/>
                </a:solidFill>
              </a:rPr>
              <a:t>🏆  Mais Avaliados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160520" cy="3566160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197.934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Forrest Gump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195.544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Pulp Fiction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186.312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 of the Lambs (1991)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177.146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Matrix (1999)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170.862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Wars: Ep. IV (1977)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164.900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Jurassic Park (1993)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153.584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Schindler's List (1993)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144.286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Braveheart (1995)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138.380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 Story (1995)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137.768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96C7"/>
                </a:solidFill>
              </a:rPr>
              <a:t>⭐  Melhor Média (mín. avaliações)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114800" cy="3566160"/>
        </p:xfrm>
        <a:graphic>
          <a:graphicData uri="http://schemas.openxmlformats.org/drawingml/2006/table">
            <a:tbl>
              <a:tblPr/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II (2016)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(2006)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3.362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197.934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of Brothers (2001)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 (série)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 Peaks (1989)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Cosmos: A Spacetime Odyssey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Schindler's List (1993)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144.286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 Window (1954)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Casablanca (1942)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94A3B8"/>
                </a:solidFill>
              </a:rPr>
              <a:t>* Alguns filmes sem metadados no arquivo metadata_updated.json aparecem como 'ID Desconhecido' no dataset.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594</Words>
  <Application>Microsoft Office PowerPoint</Application>
  <PresentationFormat>Apresentação na tela (16:9)</PresentationFormat>
  <Paragraphs>180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Paralelo de Processamento de Avaliações de Filmes</dc:title>
  <dc:subject>PptxGenJS Presentation</dc:subject>
  <dc:creator>PptxGenJS</dc:creator>
  <cp:lastModifiedBy>Aluno</cp:lastModifiedBy>
  <cp:revision>4</cp:revision>
  <dcterms:created xsi:type="dcterms:W3CDTF">2026-06-26T11:51:40Z</dcterms:created>
  <dcterms:modified xsi:type="dcterms:W3CDTF">2026-06-26T12:45:19Z</dcterms:modified>
</cp:coreProperties>
</file>